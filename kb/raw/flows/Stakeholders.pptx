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font" Target="fonts/ArialBlack-regular.fnt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Filing Ready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Provisional Patent Filing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Stakeholder</a:t>
            </a:r>
            <a:r>
              <a:rPr i="1" lang="en-US" sz="2000">
                <a:solidFill>
                  <a:srgbClr val="CADCFC"/>
                </a:solidFill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657600"/>
            <a:ext cx="2286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3383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(Innovators)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How They Use Filing Ready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69164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Self-service provisional filing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Upload technical paper or invention disclosure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 generates specification document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Automated entity status determination (Micro/Small/Large)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One-click USPTO Patent Center submission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760720" y="1280160"/>
            <a:ext cx="2926080" cy="2560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760720" y="1280160"/>
            <a:ext cx="73152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Key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0" y="1828800"/>
            <a:ext cx="2651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No lawyer required for provisional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$65-$325 filing fee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Priority date secured in minutes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12-month runway to evaluate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0080" y="4251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Segments: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737360" y="4251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Individual Innovator  |  Enterprise Innovator  |  University Researcher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3383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Drafting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Integration with Specification Verifier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57200" y="169164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Real-time quality assessment of AI-generated specifications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Industry-specific enablement checks (Pharma, Semiconductors, Materials)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Wands Factor compliance scoring (MPEP § 2164.01(a))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Missing information detection before filing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Iterative improvement loop with verifier feedback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760720" y="1280160"/>
            <a:ext cx="2926080" cy="2560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760720" y="1280160"/>
            <a:ext cx="73152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Key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943600" y="1828800"/>
            <a:ext cx="2651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Reduce spec rejections by 40%+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Automated MPEP compliance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Continuous model improvement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Benchmark against USPTO standards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Flow:  Drafting Model → Spec Verifier → Pass/Fail + Feedback → Iterate → Filing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3383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BPO (Business Process Outsourcing)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Streamlined Provisional Case Handling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7200" y="169164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Standardized 4-document workflow for all provisionals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Automated entity status determination (decision tree logic)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Pre-validated specification documents reduce QA burden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1E293B"/>
                </a:solidFill>
              </a:rPr>
              <a:t>USPTO</a:t>
            </a: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-aware fee calculation (Micro/Small/Large)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Deadline tracking with automated reminder sequences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760720" y="1280160"/>
            <a:ext cx="2926080" cy="2560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5760720" y="1280160"/>
            <a:ext cx="73152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Key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943600" y="1828800"/>
            <a:ext cx="2651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Handle 3x more cases per analyst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Reduce training time by 70%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Zero entity status errors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SLA compliance via automation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Use Case: High-volume patent services firms serving SMB innovators across ASEAN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3383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External Lawyer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Accelerated Provisional Filing Practice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169164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White-label workflow for client intake to filing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AI-assisted spec drafting with attorney review checkpoint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Built-in MPEP compliance verification (§ 2163, § 2164)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Automated form generation (PTO/SB/16, SB/15A, SB/15B)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 portal for document collection and status updates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760720" y="1280160"/>
            <a:ext cx="2926080" cy="2560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760720" y="1280160"/>
            <a:ext cx="73152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Key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943600" y="1828800"/>
            <a:ext cx="2651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Reduce provisional prep to &lt;2 hrs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Flat-fee provisional service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Focus on high-value prosecution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Serve more SMB clients profitably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Use Case: Solo practitioners and boutique IP firms expanding provisional practice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457200" y="27432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3383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1097280" y="320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Regulator (Patent Offices)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Higher Quality Filings, Reduced Burden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57200" y="169164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Pre-validated specifications meeting 35 USC 112(a) enablement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Correct entity status determination (37 CFR 1.27, 1.29)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Complete document packages (spec, drawings, cover sheet, cert)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Structured data for automated processing workflows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Reduced fraud risk via systematic entity verification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5760720" y="1280160"/>
            <a:ext cx="2926080" cy="2560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5760720" y="1280160"/>
            <a:ext cx="73152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5943600" y="14173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System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943600" y="1828800"/>
            <a:ext cx="2651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Fewer incomplete filings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Reduced entity status fraud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Higher conversion to NP apps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Consistent quality standard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One Platform, Five Stakeholders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57200" y="1585838"/>
            <a:ext cx="2286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457200" y="1737360"/>
            <a:ext cx="2651760" cy="1005840"/>
          </a:xfrm>
          <a:prstGeom prst="rect">
            <a:avLst/>
          </a:prstGeom>
          <a:solidFill>
            <a:srgbClr val="2A3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457200" y="173736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94360" y="2240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Self-service filing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3246120" y="1737360"/>
            <a:ext cx="2651760" cy="1005840"/>
          </a:xfrm>
          <a:prstGeom prst="rect">
            <a:avLst/>
          </a:prstGeom>
          <a:solidFill>
            <a:srgbClr val="2A3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3246120" y="173736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Goveda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3383280" y="2240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Quality verification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035040" y="1737360"/>
            <a:ext cx="2651760" cy="1005840"/>
          </a:xfrm>
          <a:prstGeom prst="rect">
            <a:avLst/>
          </a:prstGeom>
          <a:solidFill>
            <a:srgbClr val="2A3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6035040" y="173736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617220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172200" y="2240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Scalable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7200" y="2880360"/>
            <a:ext cx="2651760" cy="1005840"/>
          </a:xfrm>
          <a:prstGeom prst="rect">
            <a:avLst/>
          </a:prstGeom>
          <a:solidFill>
            <a:srgbClr val="2A3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457200" y="288036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94360" y="3063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External Lawyer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94360" y="3383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Practice efficiency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3246120" y="2880360"/>
            <a:ext cx="2651760" cy="1005840"/>
          </a:xfrm>
          <a:prstGeom prst="rect">
            <a:avLst/>
          </a:prstGeom>
          <a:solidFill>
            <a:srgbClr val="2A3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3246120" y="2880360"/>
            <a:ext cx="54864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3383280" y="3063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Regulator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3383280" y="3383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Filing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Arial"/>
                <a:ea typeface="Arial"/>
                <a:cs typeface="Arial"/>
                <a:sym typeface="Arial"/>
              </a:rPr>
              <a:t>Filing Ready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February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